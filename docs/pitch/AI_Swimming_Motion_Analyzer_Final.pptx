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61b03dfd154a8c" /><Relationship Type="http://schemas.openxmlformats.org/officeDocument/2006/relationships/extended-properties" Target="/docProps/app.xml" Id="Rc03efa5150dd45a7" /><Relationship Type="http://schemas.openxmlformats.org/officeDocument/2006/relationships/officeDocument" Target="/ppt/presentation.xml" Id="Reee6bdbaf66845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847d686bbe40a0"/>
  </p:sldMasterIdLst>
  <p:notesMasterIdLst>
    <p:notesMasterId xmlns:r="http://schemas.openxmlformats.org/officeDocument/2006/relationships" r:id="Rcf519944379a4b7f"/>
  </p:notesMasterIdLst>
  <p:sldIdLst>
    <p:sldId xmlns:r="http://schemas.openxmlformats.org/officeDocument/2006/relationships" id="256" r:id="Ra9271f866bc04c84"/>
    <p:sldId xmlns:r="http://schemas.openxmlformats.org/officeDocument/2006/relationships" id="257" r:id="Rd3a4700b4cf84324"/>
    <p:sldId xmlns:r="http://schemas.openxmlformats.org/officeDocument/2006/relationships" id="258" r:id="R506738ef8e574dad"/>
    <p:sldId xmlns:r="http://schemas.openxmlformats.org/officeDocument/2006/relationships" id="259" r:id="R3453883cc2a747e7"/>
    <p:sldId xmlns:r="http://schemas.openxmlformats.org/officeDocument/2006/relationships" id="260" r:id="R19035b96acde4077"/>
    <p:sldId xmlns:r="http://schemas.openxmlformats.org/officeDocument/2006/relationships" id="261" r:id="R9e879de5208641e5"/>
    <p:sldId xmlns:r="http://schemas.openxmlformats.org/officeDocument/2006/relationships" id="262" r:id="Rd5e63ff7d6ff4990"/>
    <p:sldId xmlns:r="http://schemas.openxmlformats.org/officeDocument/2006/relationships" id="263" r:id="R9f28fc13a80b4230"/>
    <p:sldId xmlns:r="http://schemas.openxmlformats.org/officeDocument/2006/relationships" id="264" r:id="R3343a919696f4912"/>
    <p:sldId xmlns:r="http://schemas.openxmlformats.org/officeDocument/2006/relationships" id="265" r:id="Rf763a97664164691"/>
    <p:sldId xmlns:r="http://schemas.openxmlformats.org/officeDocument/2006/relationships" id="266" r:id="R18c1ff820f9c43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6bda41097f4191" /><Relationship Type="http://schemas.openxmlformats.org/officeDocument/2006/relationships/slideMaster" Target="/ppt/slideMasters/slideMaster1.xml" Id="R53847d686bbe40a0" /><Relationship Type="http://schemas.openxmlformats.org/officeDocument/2006/relationships/notesMaster" Target="/ppt/notesMasters/notesMaster1.xml" Id="Rcf519944379a4b7f" /><Relationship Type="http://schemas.openxmlformats.org/officeDocument/2006/relationships/presProps" Target="/ppt/presProps.xml" Id="R43da01abd6554db6" /><Relationship Type="http://schemas.openxmlformats.org/officeDocument/2006/relationships/tableStyles" Target="/ppt/tableStyles.xml" Id="R2952c55c126d490d" /><Relationship Type="http://schemas.openxmlformats.org/officeDocument/2006/relationships/slide" Target="/ppt/slides/slide1.xml" Id="Ra9271f866bc04c84" /><Relationship Type="http://schemas.openxmlformats.org/officeDocument/2006/relationships/slide" Target="/ppt/slides/slide2.xml" Id="Rd3a4700b4cf84324" /><Relationship Type="http://schemas.openxmlformats.org/officeDocument/2006/relationships/slide" Target="/ppt/slides/slide3.xml" Id="R506738ef8e574dad" /><Relationship Type="http://schemas.openxmlformats.org/officeDocument/2006/relationships/slide" Target="/ppt/slides/slide4.xml" Id="R3453883cc2a747e7" /><Relationship Type="http://schemas.openxmlformats.org/officeDocument/2006/relationships/slide" Target="/ppt/slides/slide5.xml" Id="R19035b96acde4077" /><Relationship Type="http://schemas.openxmlformats.org/officeDocument/2006/relationships/slide" Target="/ppt/slides/slide6.xml" Id="R9e879de5208641e5" /><Relationship Type="http://schemas.openxmlformats.org/officeDocument/2006/relationships/slide" Target="/ppt/slides/slide7.xml" Id="Rd5e63ff7d6ff4990" /><Relationship Type="http://schemas.openxmlformats.org/officeDocument/2006/relationships/slide" Target="/ppt/slides/slide8.xml" Id="R9f28fc13a80b4230" /><Relationship Type="http://schemas.openxmlformats.org/officeDocument/2006/relationships/slide" Target="/ppt/slides/slide9.xml" Id="R3343a919696f4912" /><Relationship Type="http://schemas.openxmlformats.org/officeDocument/2006/relationships/slide" Target="/ppt/slides/slide10.xml" Id="Rf763a97664164691" /><Relationship Type="http://schemas.openxmlformats.org/officeDocument/2006/relationships/slide" Target="/ppt/slides/slide11.xml" Id="R18c1ff820f9c43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a511b648f34d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ac8fb078ac4cdb" /><Relationship Type="http://schemas.openxmlformats.org/officeDocument/2006/relationships/notesMaster" Target="/ppt/notesMasters/notesMaster1.xml" Id="R311f617c584e4b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dd2013e9aa43a2" /><Relationship Type="http://schemas.openxmlformats.org/officeDocument/2006/relationships/notesMaster" Target="/ppt/notesMasters/notesMaster1.xml" Id="R0c66f910160146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e80c8c42774994" /><Relationship Type="http://schemas.openxmlformats.org/officeDocument/2006/relationships/notesMaster" Target="/ppt/notesMasters/notesMaster1.xml" Id="Rb06bd8b5dbc846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38bd6a9ba2429c" /><Relationship Type="http://schemas.openxmlformats.org/officeDocument/2006/relationships/notesMaster" Target="/ppt/notesMasters/notesMaster1.xml" Id="Rfe3e1f53cb3b43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8f9aabc04848aa" /><Relationship Type="http://schemas.openxmlformats.org/officeDocument/2006/relationships/notesMaster" Target="/ppt/notesMasters/notesMaster1.xml" Id="R1f45e28425034b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1f4833a3294233" /><Relationship Type="http://schemas.openxmlformats.org/officeDocument/2006/relationships/notesMaster" Target="/ppt/notesMasters/notesMaster1.xml" Id="R872e571b5a9f4e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ed449fcf5e47d6" /><Relationship Type="http://schemas.openxmlformats.org/officeDocument/2006/relationships/notesMaster" Target="/ppt/notesMasters/notesMaster1.xml" Id="Rfa03730525e146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acd12efcdd4d8f" /><Relationship Type="http://schemas.openxmlformats.org/officeDocument/2006/relationships/notesMaster" Target="/ppt/notesMasters/notesMaster1.xml" Id="R5f65a0971d5c43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bba15a3c854130" /><Relationship Type="http://schemas.openxmlformats.org/officeDocument/2006/relationships/notesMaster" Target="/ppt/notesMasters/notesMaster1.xml" Id="R1db0313d3dfc43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e4304a9c4e4c33" /><Relationship Type="http://schemas.openxmlformats.org/officeDocument/2006/relationships/notesMaster" Target="/ppt/notesMasters/notesMaster1.xml" Id="R3e8d3049b8f949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e9eea69bd34f8d" /><Relationship Type="http://schemas.openxmlformats.org/officeDocument/2006/relationships/notesMaster" Target="/ppt/notesMasters/notesMaster1.xml" Id="R4e2c8b15c87349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db1a4698145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eac2bbe18a4741" /><Relationship Type="http://schemas.openxmlformats.org/officeDocument/2006/relationships/slideLayout" Target="/ppt/slideLayouts/slideLayout1.xml" Id="R3b8c88a614a743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8c88a614a743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8ca828b1b4e9b" /><Relationship Type="http://schemas.openxmlformats.org/officeDocument/2006/relationships/image" Target="/ppt/media/image.png" Id="R8d6aa36b281b49e3" /><Relationship Type="http://schemas.openxmlformats.org/officeDocument/2006/relationships/notesSlide" Target="/ppt/notesSlides/notesSlide1.xml" Id="Rbb9aff4af28a48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eacb895504d12" /><Relationship Type="http://schemas.openxmlformats.org/officeDocument/2006/relationships/notesSlide" Target="/ppt/notesSlides/notesSlide2.xml" Id="R9bbc73795cc84b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07f36156c44d6" /><Relationship Type="http://schemas.openxmlformats.org/officeDocument/2006/relationships/notesSlide" Target="/ppt/notesSlides/notesSlide3.xml" Id="Rf719f412952743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f63e6149b4725" /><Relationship Type="http://schemas.openxmlformats.org/officeDocument/2006/relationships/image" Target="/ppt/media/image2.png" Id="R6b6b8d9e4d1044e5" /><Relationship Type="http://schemas.openxmlformats.org/officeDocument/2006/relationships/notesSlide" Target="/ppt/notesSlides/notesSlide4.xml" Id="Rdabeb5e85cc24e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a04ab2a794227" /><Relationship Type="http://schemas.openxmlformats.org/officeDocument/2006/relationships/image" Target="/ppt/media/image3.png" Id="Re9583a0fbe1e4740" /><Relationship Type="http://schemas.openxmlformats.org/officeDocument/2006/relationships/notesSlide" Target="/ppt/notesSlides/notesSlide5.xml" Id="R6c7fbe6b810a46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dba657a364dd4" /><Relationship Type="http://schemas.openxmlformats.org/officeDocument/2006/relationships/image" Target="/ppt/media/image4.png" Id="R75f9b719401f48e3" /><Relationship Type="http://schemas.openxmlformats.org/officeDocument/2006/relationships/notesSlide" Target="/ppt/notesSlides/notesSlide6.xml" Id="R3bc17ead4d3d42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fe17d73b2440b" /><Relationship Type="http://schemas.openxmlformats.org/officeDocument/2006/relationships/notesSlide" Target="/ppt/notesSlides/notesSlide7.xml" Id="R30ef9145e03244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fcdf62bd94dba" /><Relationship Type="http://schemas.openxmlformats.org/officeDocument/2006/relationships/image" Target="/ppt/media/image5.png" Id="R9a6750e1e5294dc8" /><Relationship Type="http://schemas.openxmlformats.org/officeDocument/2006/relationships/notesSlide" Target="/ppt/notesSlides/notesSlide8.xml" Id="R2f2022d9e0be4b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14f95574349ab" /><Relationship Type="http://schemas.openxmlformats.org/officeDocument/2006/relationships/notesSlide" Target="/ppt/notesSlides/notesSlide9.xml" Id="R62a809ec488f43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32eac44e74c36" /><Relationship Type="http://schemas.openxmlformats.org/officeDocument/2006/relationships/notesSlide" Target="/ppt/notesSlides/notesSlide10.xml" Id="R58d2df71e8de4d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979d9fc754449" /><Relationship Type="http://schemas.openxmlformats.org/officeDocument/2006/relationships/notesSlide" Target="/ppt/notesSlides/notesSlide11.xml" Id="Rd035da6315a846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eyebrow">
            <a:extLst xmlns:a="http://schemas.openxmlformats.org/drawingml/2006/main">
              <a:ext uri="{FF2B5EF4-FFF2-40B4-BE49-F238E27FC236}">
                <a16:creationId xmlns:a16="http://schemas.microsoft.com/office/drawing/2014/main" id="{8A06C81C-5FC4-4ED7-A22C-C20F3867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PROOF OF CONCEPT · 2026</a:t>
            </a:r>
          </a:p>
        </p:txBody>
      </p:sp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BF4D7AC7-E7BE-4F07-83AA-B905BE75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7239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AI Swimming
Motion Analyzer</a:t>
            </a:r>
          </a:p>
        </p:txBody>
      </p:sp>
      <p:sp>
        <p:nvSpPr>
          <p:cNvPr id="3" name="s1-subtitle">
            <a:extLst xmlns:a="http://schemas.openxmlformats.org/drawingml/2006/main">
              <a:ext uri="{FF2B5EF4-FFF2-40B4-BE49-F238E27FC236}">
                <a16:creationId xmlns:a16="http://schemas.microsoft.com/office/drawing/2014/main" id="{8020F257-BAE7-45FA-B885-A44E5742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6572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2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Analisi biomeccanica del nuoto a partire da un video.</a:t>
            </a:r>
          </a:p>
        </p:txBody>
      </p:sp>
      <p:sp>
        <p:nvSpPr>
          <p:cNvPr id="4" name="s1-proof">
            <a:extLst xmlns:a="http://schemas.openxmlformats.org/drawingml/2006/main">
              <a:ext uri="{FF2B5EF4-FFF2-40B4-BE49-F238E27FC236}">
                <a16:creationId xmlns:a16="http://schemas.microsoft.com/office/drawing/2014/main" id="{5DB23388-B038-45F9-B188-0C3F857C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657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Pipeline locale, riproducibile, costo di esercizio 0 euro.</a:t>
            </a:r>
          </a:p>
        </p:txBody>
      </p:sp>
      <p:sp>
        <p:nvSpPr>
          <p:cNvPr id="5" name="s1-author">
            <a:extLst xmlns:a="http://schemas.openxmlformats.org/drawingml/2006/main">
              <a:ext uri="{FF2B5EF4-FFF2-40B4-BE49-F238E27FC236}">
                <a16:creationId xmlns:a16="http://schemas.microsoft.com/office/drawing/2014/main" id="{57963F1A-C455-4D19-8B16-005EA7E9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Massimo Davide Fedrigo · ITS ICT Academy Roma · AI Projects Development</a:t>
            </a:r>
          </a:p>
        </p:txBody>
      </p:sp>
      <p:sp>
        <p:nvSpPr>
          <p:cNvPr id="6" name="s1-accent">
            <a:extLst xmlns:a="http://schemas.openxmlformats.org/drawingml/2006/main">
              <a:ext uri="{FF2B5EF4-FFF2-40B4-BE49-F238E27FC236}">
                <a16:creationId xmlns:a16="http://schemas.microsoft.com/office/drawing/2014/main" id="{9F6B3618-DE5C-499E-9D75-068487A1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2450"/>
            <a:ext cx="76200" cy="541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1-image-backing">
            <a:extLst xmlns:a="http://schemas.openxmlformats.org/drawingml/2006/main">
              <a:ext uri="{FF2B5EF4-FFF2-40B4-BE49-F238E27FC236}">
                <a16:creationId xmlns:a16="http://schemas.microsoft.com/office/drawing/2014/main" id="{554455C6-9EED-4471-AFDA-C3DCC61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2450"/>
            <a:ext cx="3143250" cy="54102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oter-1">
            <a:extLst xmlns:a="http://schemas.openxmlformats.org/drawingml/2006/main">
              <a:ext uri="{FF2B5EF4-FFF2-40B4-BE49-F238E27FC236}">
                <a16:creationId xmlns:a16="http://schemas.microsoft.com/office/drawing/2014/main" id="{D6EB405C-8F5C-4B17-9813-3A30E33C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aa36b281b49e3"/>
          <a:srcRect xmlns:a="http://schemas.openxmlformats.org/drawingml/2006/main" l="0" t="1591" r="0" b="1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552450"/>
            <a:ext cx="3143250" cy="54102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69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">
            <a:extLst xmlns:a="http://schemas.openxmlformats.org/drawingml/2006/main">
              <a:ext uri="{FF2B5EF4-FFF2-40B4-BE49-F238E27FC236}">
                <a16:creationId xmlns:a16="http://schemas.microsoft.com/office/drawing/2014/main" id="{6473D8AE-D5B0-46F2-A5A1-C224B707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Il dato biomeccanico resta fuori portata per molti.</a:t>
            </a:r>
          </a:p>
        </p:txBody>
      </p:sp>
      <p:sp>
        <p:nvSpPr>
          <p:cNvPr id="2" name="s2-lead">
            <a:extLst xmlns:a="http://schemas.openxmlformats.org/drawingml/2006/main">
              <a:ext uri="{FF2B5EF4-FFF2-40B4-BE49-F238E27FC236}">
                <a16:creationId xmlns:a16="http://schemas.microsoft.com/office/drawing/2014/main" id="{AD7ADDD4-832B-4626-B677-8340F77A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Il problema non è solo vedere il gesto: è trasformarlo in numeri confrontabili, senza partire da una vasca-laboratorio.</a:t>
            </a:r>
          </a:p>
        </p:txBody>
      </p:sp>
      <p:cxnSp>
        <p:nvCxnSpPr>
          <p:cNvPr id="28" name="s2-rule"/>
          <p:cNvCxnSpPr/>
          <p:nvPr/>
        </p:nvCxnSpPr>
        <p:spPr>
          <a:xfrm xmlns:a="http://schemas.openxmlformats.org/drawingml/2006/main">
            <a:off x="400050" y="27051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7BFBA6DB-374E-423F-82B3-7BA75FF8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s2-card-01">
            <a:extLst xmlns:a="http://schemas.openxmlformats.org/drawingml/2006/main">
              <a:ext uri="{FF2B5EF4-FFF2-40B4-BE49-F238E27FC236}">
                <a16:creationId xmlns:a16="http://schemas.microsoft.com/office/drawing/2014/main" id="{10DA60F1-8CB5-4FFB-8CAF-3DEFAFA7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35623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sp>
        <p:nvSpPr>
          <p:cNvPr id="6" name="s2-badge-01">
            <a:extLst xmlns:a="http://schemas.openxmlformats.org/drawingml/2006/main">
              <a:ext uri="{FF2B5EF4-FFF2-40B4-BE49-F238E27FC236}">
                <a16:creationId xmlns:a16="http://schemas.microsoft.com/office/drawing/2014/main" id="{2F347C0A-2779-4230-A3D7-AC5BABF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2-num-01">
            <a:extLst xmlns:a="http://schemas.openxmlformats.org/drawingml/2006/main">
              <a:ext uri="{FF2B5EF4-FFF2-40B4-BE49-F238E27FC236}">
                <a16:creationId xmlns:a16="http://schemas.microsoft.com/office/drawing/2014/main" id="{3DED2E57-C500-402B-A156-7AA3B9B4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s2-card-title-01">
            <a:extLst xmlns:a="http://schemas.openxmlformats.org/drawingml/2006/main">
              <a:ext uri="{FF2B5EF4-FFF2-40B4-BE49-F238E27FC236}">
                <a16:creationId xmlns:a16="http://schemas.microsoft.com/office/drawing/2014/main" id="{88CEF341-75ED-4DB7-B61B-E97AEE02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952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Sistemi d’élite</a:t>
            </a:r>
          </a:p>
        </p:txBody>
      </p:sp>
      <p:sp>
        <p:nvSpPr>
          <p:cNvPr id="9" name="s2-card-body-01">
            <a:extLst xmlns:a="http://schemas.openxmlformats.org/drawingml/2006/main">
              <a:ext uri="{FF2B5EF4-FFF2-40B4-BE49-F238E27FC236}">
                <a16:creationId xmlns:a16="http://schemas.microsoft.com/office/drawing/2014/main" id="{7F437CAD-0741-4EAC-81BB-C296374E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952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Le soluzioni professionali richiedono hardware e installazioni complesse in vasca.</a:t>
            </a:r>
          </a:p>
        </p:txBody>
      </p:sp>
      <p:sp>
        <p:nvSpPr>
          <p:cNvPr id="10" name="s2-card-02">
            <a:extLst xmlns:a="http://schemas.openxmlformats.org/drawingml/2006/main">
              <a:ext uri="{FF2B5EF4-FFF2-40B4-BE49-F238E27FC236}">
                <a16:creationId xmlns:a16="http://schemas.microsoft.com/office/drawing/2014/main" id="{221FD896-868D-4C86-8EF7-19F21B67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05150"/>
            <a:ext cx="35623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sp>
        <p:nvSpPr>
          <p:cNvPr id="11" name="s2-badge-02">
            <a:extLst xmlns:a="http://schemas.openxmlformats.org/drawingml/2006/main">
              <a:ext uri="{FF2B5EF4-FFF2-40B4-BE49-F238E27FC236}">
                <a16:creationId xmlns:a16="http://schemas.microsoft.com/office/drawing/2014/main" id="{BE78F473-C01F-4CFC-A077-A6786CB7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71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s2-num-02">
            <a:extLst xmlns:a="http://schemas.openxmlformats.org/drawingml/2006/main">
              <a:ext uri="{FF2B5EF4-FFF2-40B4-BE49-F238E27FC236}">
                <a16:creationId xmlns:a16="http://schemas.microsoft.com/office/drawing/2014/main" id="{57360879-D67E-4583-B979-76170442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76625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s2-card-title-02">
            <a:extLst xmlns:a="http://schemas.openxmlformats.org/drawingml/2006/main">
              <a:ext uri="{FF2B5EF4-FFF2-40B4-BE49-F238E27FC236}">
                <a16:creationId xmlns:a16="http://schemas.microsoft.com/office/drawing/2014/main" id="{46B3AFFD-BCA5-441E-901C-980ADF60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14800"/>
            <a:ext cx="2952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Occhio, non misura</a:t>
            </a:r>
          </a:p>
        </p:txBody>
      </p:sp>
      <p:sp>
        <p:nvSpPr>
          <p:cNvPr id="14" name="s2-card-body-02">
            <a:extLst xmlns:a="http://schemas.openxmlformats.org/drawingml/2006/main">
              <a:ext uri="{FF2B5EF4-FFF2-40B4-BE49-F238E27FC236}">
                <a16:creationId xmlns:a16="http://schemas.microsoft.com/office/drawing/2014/main" id="{47B28C45-D791-4F2A-9092-0F5BB917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67250"/>
            <a:ext cx="2952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Senza angoli e frequenze, il confronto nel tempo resta soggettivo.</a:t>
            </a:r>
          </a:p>
        </p:txBody>
      </p:sp>
      <p:sp>
        <p:nvSpPr>
          <p:cNvPr id="15" name="s2-card-03">
            <a:extLst xmlns:a="http://schemas.openxmlformats.org/drawingml/2006/main">
              <a:ext uri="{FF2B5EF4-FFF2-40B4-BE49-F238E27FC236}">
                <a16:creationId xmlns:a16="http://schemas.microsoft.com/office/drawing/2014/main" id="{C8AA17D3-CDCD-48A3-A4A8-B4933178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5623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sp>
        <p:nvSpPr>
          <p:cNvPr id="16" name="s2-badge-03">
            <a:extLst xmlns:a="http://schemas.openxmlformats.org/drawingml/2006/main">
              <a:ext uri="{FF2B5EF4-FFF2-40B4-BE49-F238E27FC236}">
                <a16:creationId xmlns:a16="http://schemas.microsoft.com/office/drawing/2014/main" id="{28F28CA3-D5A2-4E75-8702-17CA5EF1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s2-num-03">
            <a:extLst xmlns:a="http://schemas.openxmlformats.org/drawingml/2006/main">
              <a:ext uri="{FF2B5EF4-FFF2-40B4-BE49-F238E27FC236}">
                <a16:creationId xmlns:a16="http://schemas.microsoft.com/office/drawing/2014/main" id="{59BC286F-C0D6-44C0-BD3D-2A9044CA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s2-card-title-03">
            <a:extLst xmlns:a="http://schemas.openxmlformats.org/drawingml/2006/main">
              <a:ext uri="{FF2B5EF4-FFF2-40B4-BE49-F238E27FC236}">
                <a16:creationId xmlns:a16="http://schemas.microsoft.com/office/drawing/2014/main" id="{0CE1E90A-1CF4-4DDB-B6D3-DD944135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14800"/>
            <a:ext cx="2952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Rischio anticipato</a:t>
            </a:r>
          </a:p>
        </p:txBody>
      </p:sp>
      <p:sp>
        <p:nvSpPr>
          <p:cNvPr id="19" name="s2-card-body-03">
            <a:extLst xmlns:a="http://schemas.openxmlformats.org/drawingml/2006/main">
              <a:ext uri="{FF2B5EF4-FFF2-40B4-BE49-F238E27FC236}">
                <a16:creationId xmlns:a16="http://schemas.microsoft.com/office/drawing/2014/main" id="{4FA8E19F-2BA5-4490-B03B-D05535E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67250"/>
            <a:ext cx="2952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Si investe in hardware prima di sapere se la pipeline software reggerà.</a:t>
            </a:r>
          </a:p>
        </p:txBody>
      </p:sp>
    </p:spTree>
    <p:extLst>
      <p:ext uri="{BB962C8B-B14F-4D97-AF65-F5344CB8AC3E}">
        <p14:creationId xmlns:p14="http://schemas.microsoft.com/office/powerpoint/2010/main" val="1180831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">
            <a:extLst xmlns:a="http://schemas.openxmlformats.org/drawingml/2006/main">
              <a:ext uri="{FF2B5EF4-FFF2-40B4-BE49-F238E27FC236}">
                <a16:creationId xmlns:a16="http://schemas.microsoft.com/office/drawing/2014/main" id="{D70475D0-DCBA-4FDC-AB35-F4342791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5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Separare il rischio software dal rischio hardware.</a:t>
            </a:r>
          </a:p>
        </p:txBody>
      </p:sp>
      <p:sp>
        <p:nvSpPr>
          <p:cNvPr id="2" name="s3-lead">
            <a:extLst xmlns:a="http://schemas.openxmlformats.org/drawingml/2006/main">
              <a:ext uri="{FF2B5EF4-FFF2-40B4-BE49-F238E27FC236}">
                <a16:creationId xmlns:a16="http://schemas.microsoft.com/office/drawing/2014/main" id="{DF07B64D-32E5-4169-A0ED-18EA79B3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Il PoC risponde prima alla domanda decisiva: possiamo estrarre metriche utili, in locale, con risultati ripetibili?</a:t>
            </a:r>
          </a:p>
        </p:txBody>
      </p:sp>
      <p:sp>
        <p:nvSpPr>
          <p:cNvPr id="3" name="s3-left-card">
            <a:extLst xmlns:a="http://schemas.openxmlformats.org/drawingml/2006/main">
              <a:ext uri="{FF2B5EF4-FFF2-40B4-BE49-F238E27FC236}">
                <a16:creationId xmlns:a16="http://schemas.microsoft.com/office/drawing/2014/main" id="{D13CFDCB-7EBA-446F-AFCC-AACA8F81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52197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sp>
        <p:nvSpPr>
          <p:cNvPr id="4" name="s3-left-label">
            <a:extLst xmlns:a="http://schemas.openxmlformats.org/drawingml/2006/main">
              <a:ext uri="{FF2B5EF4-FFF2-40B4-BE49-F238E27FC236}">
                <a16:creationId xmlns:a16="http://schemas.microsoft.com/office/drawing/2014/main" id="{928E13EE-703B-4B21-820A-73329B5F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PRIMA</a:t>
            </a:r>
          </a:p>
        </p:txBody>
      </p:sp>
      <p:sp>
        <p:nvSpPr>
          <p:cNvPr id="5" name="s3-left-title">
            <a:extLst xmlns:a="http://schemas.openxmlformats.org/drawingml/2006/main">
              <a:ext uri="{FF2B5EF4-FFF2-40B4-BE49-F238E27FC236}">
                <a16:creationId xmlns:a16="http://schemas.microsoft.com/office/drawing/2014/main" id="{FB50DB9C-132B-48EB-98BA-D776A062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324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Comprare la vasca</a:t>
            </a:r>
          </a:p>
        </p:txBody>
      </p:sp>
      <p:sp>
        <p:nvSpPr>
          <p:cNvPr id="6" name="s3-left-body">
            <a:extLst xmlns:a="http://schemas.openxmlformats.org/drawingml/2006/main">
              <a:ext uri="{FF2B5EF4-FFF2-40B4-BE49-F238E27FC236}">
                <a16:creationId xmlns:a16="http://schemas.microsoft.com/office/drawing/2014/main" id="{2FFC7D8E-7DD5-4013-A9E4-1FAB2D6D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324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Telecamere, edge e sensori entrano subito nel rischio, mentre la logica di analisi è ancora un’ipotesi.</a:t>
            </a:r>
          </a:p>
        </p:txBody>
      </p:sp>
      <p:sp>
        <p:nvSpPr>
          <p:cNvPr id="7" name="s3-right-card">
            <a:extLst xmlns:a="http://schemas.openxmlformats.org/drawingml/2006/main">
              <a:ext uri="{FF2B5EF4-FFF2-40B4-BE49-F238E27FC236}">
                <a16:creationId xmlns:a16="http://schemas.microsoft.com/office/drawing/2014/main" id="{9C77A78A-4396-4B59-8891-296BF74D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5619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s3-right-label">
            <a:extLst xmlns:a="http://schemas.openxmlformats.org/drawingml/2006/main">
              <a:ext uri="{FF2B5EF4-FFF2-40B4-BE49-F238E27FC236}">
                <a16:creationId xmlns:a16="http://schemas.microsoft.com/office/drawing/2014/main" id="{C962CEA9-1F8F-461D-A7E3-96BA5DE3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ADESSO</a:t>
            </a:r>
          </a:p>
        </p:txBody>
      </p:sp>
      <p:sp>
        <p:nvSpPr>
          <p:cNvPr id="9" name="s3-right-title">
            <a:extLst xmlns:a="http://schemas.openxmlformats.org/drawingml/2006/main">
              <a:ext uri="{FF2B5EF4-FFF2-40B4-BE49-F238E27FC236}">
                <a16:creationId xmlns:a16="http://schemas.microsoft.com/office/drawing/2014/main" id="{24814098-B37B-451C-B294-CDC804C3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Provare il software</a:t>
            </a:r>
          </a:p>
        </p:txBody>
      </p:sp>
      <p:sp>
        <p:nvSpPr>
          <p:cNvPr id="10" name="s3-right-body">
            <a:extLst xmlns:a="http://schemas.openxmlformats.org/drawingml/2006/main">
              <a:ext uri="{FF2B5EF4-FFF2-40B4-BE49-F238E27FC236}">
                <a16:creationId xmlns:a16="http://schemas.microsoft.com/office/drawing/2014/main" id="{8EE32B29-3DF6-47DD-94D3-408C5D85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4762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La pipeline è verificata a secco. Il finanziamento successivo compra hardware e dati per validarla in acqua.</a:t>
            </a:r>
          </a:p>
        </p:txBody>
      </p:sp>
      <p:sp>
        <p:nvSpPr>
          <p:cNvPr id="11" name="s3-arrow">
            <a:extLst xmlns:a="http://schemas.openxmlformats.org/drawingml/2006/main">
              <a:ext uri="{FF2B5EF4-FFF2-40B4-BE49-F238E27FC236}">
                <a16:creationId xmlns:a16="http://schemas.microsoft.com/office/drawing/2014/main" id="{D1711E52-5617-4710-8EFB-DFFE1D8F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38550"/>
            <a:ext cx="400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s3-bottom">
            <a:extLst xmlns:a="http://schemas.openxmlformats.org/drawingml/2006/main">
              <a:ext uri="{FF2B5EF4-FFF2-40B4-BE49-F238E27FC236}">
                <a16:creationId xmlns:a16="http://schemas.microsoft.com/office/drawing/2014/main" id="{2A02A247-7B34-4B93-9BCF-18F46F1F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038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Il rischio software iniziale è stato ridotto e misurato sul protocollo testato.</a:t>
            </a:r>
          </a:p>
        </p:txBody>
      </p:sp>
      <p:sp>
        <p:nvSpPr>
          <p:cNvPr id="13" name="footer-3">
            <a:extLst xmlns:a="http://schemas.openxmlformats.org/drawingml/2006/main">
              <a:ext uri="{FF2B5EF4-FFF2-40B4-BE49-F238E27FC236}">
                <a16:creationId xmlns:a16="http://schemas.microsoft.com/office/drawing/2014/main" id="{7FA3B415-4C52-498D-A875-1334A1AA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2427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">
            <a:extLst xmlns:a="http://schemas.openxmlformats.org/drawingml/2006/main">
              <a:ext uri="{FF2B5EF4-FFF2-40B4-BE49-F238E27FC236}">
                <a16:creationId xmlns:a16="http://schemas.microsoft.com/office/drawing/2014/main" id="{871B256D-C0DE-4B2F-8F1C-D4E97DEA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L’AI percepisce. La matematica misura.</a:t>
            </a:r>
          </a:p>
        </p:txBody>
      </p:sp>
      <p:sp>
        <p:nvSpPr>
          <p:cNvPr id="2" name="s4-step1n">
            <a:extLst xmlns:a="http://schemas.openxmlformats.org/drawingml/2006/main">
              <a:ext uri="{FF2B5EF4-FFF2-40B4-BE49-F238E27FC236}">
                <a16:creationId xmlns:a16="http://schemas.microsoft.com/office/drawing/2014/main" id="{E562EDCA-B526-4CB3-91BE-30327AE6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45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3" name="s4-step1t">
            <a:extLst xmlns:a="http://schemas.openxmlformats.org/drawingml/2006/main">
              <a:ext uri="{FF2B5EF4-FFF2-40B4-BE49-F238E27FC236}">
                <a16:creationId xmlns:a16="http://schemas.microsoft.com/office/drawing/2014/main" id="{5C98670A-B8D4-41FA-9B83-C2383667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76400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Pose estimation locale</a:t>
            </a:r>
          </a:p>
        </p:txBody>
      </p:sp>
      <p:sp>
        <p:nvSpPr>
          <p:cNvPr id="4" name="s4-step1b">
            <a:extLst xmlns:a="http://schemas.openxmlformats.org/drawingml/2006/main">
              <a:ext uri="{FF2B5EF4-FFF2-40B4-BE49-F238E27FC236}">
                <a16:creationId xmlns:a16="http://schemas.microsoft.com/office/drawing/2014/main" id="{E63B830A-3E29-4FD5-ADA2-B2ECFB1E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33600"/>
            <a:ext cx="4629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MediaPipe BlazePose rileva 33 landmark corporei su CPU, senza cloud.</a:t>
            </a:r>
          </a:p>
        </p:txBody>
      </p:sp>
      <p:cxnSp>
        <p:nvCxnSpPr>
          <p:cNvPr id="40" name="s4-r1"/>
          <p:cNvCxnSpPr/>
          <p:nvPr/>
        </p:nvCxnSpPr>
        <p:spPr>
          <a:xfrm xmlns:a="http://schemas.openxmlformats.org/drawingml/2006/main">
            <a:off x="400050" y="2933700"/>
            <a:ext cx="52197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s4-step2n">
            <a:extLst xmlns:a="http://schemas.openxmlformats.org/drawingml/2006/main">
              <a:ext uri="{FF2B5EF4-FFF2-40B4-BE49-F238E27FC236}">
                <a16:creationId xmlns:a16="http://schemas.microsoft.com/office/drawing/2014/main" id="{E57E01CC-79E5-47F7-8034-6A18290C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45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7" name="s4-step2t">
            <a:extLst xmlns:a="http://schemas.openxmlformats.org/drawingml/2006/main">
              <a:ext uri="{FF2B5EF4-FFF2-40B4-BE49-F238E27FC236}">
                <a16:creationId xmlns:a16="http://schemas.microsoft.com/office/drawing/2014/main" id="{33D7D86B-93A2-4F24-B487-7419F2A8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62300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Metriche deterministiche</a:t>
            </a:r>
          </a:p>
        </p:txBody>
      </p:sp>
      <p:sp>
        <p:nvSpPr>
          <p:cNvPr id="8" name="s4-step2b">
            <a:extLst xmlns:a="http://schemas.openxmlformats.org/drawingml/2006/main">
              <a:ext uri="{FF2B5EF4-FFF2-40B4-BE49-F238E27FC236}">
                <a16:creationId xmlns:a16="http://schemas.microsoft.com/office/drawing/2014/main" id="{A7D8F2A5-3C16-4586-AB58-2251297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4629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Angolo del gomito, conteggio bracciate e Fluidity Score sono calcolati con regole verificabili.</a:t>
            </a:r>
          </a:p>
        </p:txBody>
      </p:sp>
      <p:cxnSp>
        <p:nvCxnSpPr>
          <p:cNvPr id="44" name="s4-r2"/>
          <p:cNvCxnSpPr/>
          <p:nvPr/>
        </p:nvCxnSpPr>
        <p:spPr>
          <a:xfrm xmlns:a="http://schemas.openxmlformats.org/drawingml/2006/main">
            <a:off x="400050" y="4591050"/>
            <a:ext cx="52197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s4-step3n">
            <a:extLst xmlns:a="http://schemas.openxmlformats.org/drawingml/2006/main">
              <a:ext uri="{FF2B5EF4-FFF2-40B4-BE49-F238E27FC236}">
                <a16:creationId xmlns:a16="http://schemas.microsoft.com/office/drawing/2014/main" id="{B75CEBDC-9A71-4C01-8147-2F0A058F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45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1" name="s4-step3t">
            <a:extLst xmlns:a="http://schemas.openxmlformats.org/drawingml/2006/main">
              <a:ext uri="{FF2B5EF4-FFF2-40B4-BE49-F238E27FC236}">
                <a16:creationId xmlns:a16="http://schemas.microsoft.com/office/drawing/2014/main" id="{B3247FCD-8886-4F2F-BE8C-3E078F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00600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Dashboard ed export</a:t>
            </a:r>
          </a:p>
        </p:txBody>
      </p:sp>
      <p:sp>
        <p:nvSpPr>
          <p:cNvPr id="12" name="s4-step3b">
            <a:extLst xmlns:a="http://schemas.openxmlformats.org/drawingml/2006/main">
              <a:ext uri="{FF2B5EF4-FFF2-40B4-BE49-F238E27FC236}">
                <a16:creationId xmlns:a16="http://schemas.microsoft.com/office/drawing/2014/main" id="{B7076082-A01B-4946-8FB0-CEB6271B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57800"/>
            <a:ext cx="4629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KPI live, grafico del polso e CSV aggregato con timestamp.</a:t>
            </a:r>
          </a:p>
        </p:txBody>
      </p:sp>
      <p:sp>
        <p:nvSpPr>
          <p:cNvPr id="13" name="s4-image-backing">
            <a:extLst xmlns:a="http://schemas.openxmlformats.org/drawingml/2006/main">
              <a:ext uri="{FF2B5EF4-FFF2-40B4-BE49-F238E27FC236}">
                <a16:creationId xmlns:a16="http://schemas.microsoft.com/office/drawing/2014/main" id="{F10166AD-5F9E-4047-BE78-820C289F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62050"/>
            <a:ext cx="5524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footer-4">
            <a:extLst xmlns:a="http://schemas.openxmlformats.org/drawingml/2006/main">
              <a:ext uri="{FF2B5EF4-FFF2-40B4-BE49-F238E27FC236}">
                <a16:creationId xmlns:a16="http://schemas.microsoft.com/office/drawing/2014/main" id="{22A07418-57A5-4CD8-B6FD-8BB14011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b8d9e4d1044e5"/>
          <a:stretch xmlns:a="http://schemas.openxmlformats.org/drawingml/2006/main"/>
        </p:blipFill>
        <p:spPr>
          <a:xfrm xmlns:a="http://schemas.openxmlformats.org/drawingml/2006/main">
            <a:off x="7663458" y="1162050"/>
            <a:ext cx="2732484" cy="48577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34604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">
            <a:extLst xmlns:a="http://schemas.openxmlformats.org/drawingml/2006/main">
              <a:ext uri="{FF2B5EF4-FFF2-40B4-BE49-F238E27FC236}">
                <a16:creationId xmlns:a16="http://schemas.microsoft.com/office/drawing/2014/main" id="{C201C739-0AB3-40AC-9FA3-05C70008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La demo chiude il ciclo end-to-end.</a:t>
            </a:r>
          </a:p>
        </p:txBody>
      </p:sp>
      <p:sp>
        <p:nvSpPr>
          <p:cNvPr id="2" name="s5-subtitle">
            <a:extLst xmlns:a="http://schemas.openxmlformats.org/drawingml/2006/main">
              <a:ext uri="{FF2B5EF4-FFF2-40B4-BE49-F238E27FC236}">
                <a16:creationId xmlns:a16="http://schemas.microsoft.com/office/drawing/2014/main" id="{522B727E-F271-42BE-BED6-F095D57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Stesso MP4, stessi risultati nelle condizioni validate.</a:t>
            </a:r>
          </a:p>
        </p:txBody>
      </p:sp>
      <p:sp>
        <p:nvSpPr>
          <p:cNvPr id="3" name="s5-image-backing">
            <a:extLst xmlns:a="http://schemas.openxmlformats.org/drawingml/2006/main">
              <a:ext uri="{FF2B5EF4-FFF2-40B4-BE49-F238E27FC236}">
                <a16:creationId xmlns:a16="http://schemas.microsoft.com/office/drawing/2014/main" id="{F06E8084-6DBD-4CCA-9C5C-5CB82700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80391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0E111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5-card-1">
            <a:extLst xmlns:a="http://schemas.openxmlformats.org/drawingml/2006/main">
              <a:ext uri="{FF2B5EF4-FFF2-40B4-BE49-F238E27FC236}">
                <a16:creationId xmlns:a16="http://schemas.microsoft.com/office/drawing/2014/main" id="{CA8942F7-7ED1-4DB7-8727-C990F329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811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" name="s5-stat-1">
            <a:extLst xmlns:a="http://schemas.openxmlformats.org/drawingml/2006/main">
              <a:ext uri="{FF2B5EF4-FFF2-40B4-BE49-F238E27FC236}">
                <a16:creationId xmlns:a16="http://schemas.microsoft.com/office/drawing/2014/main" id="{65987389-0EB4-426B-BCFC-F0770C23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90700"/>
            <a:ext cx="123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6" name="s5-label-1">
            <a:extLst xmlns:a="http://schemas.openxmlformats.org/drawingml/2006/main">
              <a:ext uri="{FF2B5EF4-FFF2-40B4-BE49-F238E27FC236}">
                <a16:creationId xmlns:a16="http://schemas.microsoft.com/office/drawing/2014/main" id="{44B46A1F-162C-4905-9592-BA161429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bracciate rilevate</a:t>
            </a:r>
          </a:p>
        </p:txBody>
      </p:sp>
      <p:sp>
        <p:nvSpPr>
          <p:cNvPr id="7" name="s5-card-2">
            <a:extLst xmlns:a="http://schemas.openxmlformats.org/drawingml/2006/main">
              <a:ext uri="{FF2B5EF4-FFF2-40B4-BE49-F238E27FC236}">
                <a16:creationId xmlns:a16="http://schemas.microsoft.com/office/drawing/2014/main" id="{56450129-7B88-4E18-8428-B10C6A64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sp>
        <p:nvSpPr>
          <p:cNvPr id="8" name="s5-stat-2">
            <a:extLst xmlns:a="http://schemas.openxmlformats.org/drawingml/2006/main">
              <a:ext uri="{FF2B5EF4-FFF2-40B4-BE49-F238E27FC236}">
                <a16:creationId xmlns:a16="http://schemas.microsoft.com/office/drawing/2014/main" id="{DEEFEAD5-66AD-439F-9346-5BAB8946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142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93,1</a:t>
            </a:r>
          </a:p>
        </p:txBody>
      </p:sp>
      <p:sp>
        <p:nvSpPr>
          <p:cNvPr id="9" name="s5-label-2">
            <a:extLst xmlns:a="http://schemas.openxmlformats.org/drawingml/2006/main">
              <a:ext uri="{FF2B5EF4-FFF2-40B4-BE49-F238E27FC236}">
                <a16:creationId xmlns:a16="http://schemas.microsoft.com/office/drawing/2014/main" id="{A3756A1B-D9AD-4469-9E7C-552CD107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Fluidity Score relativo</a:t>
            </a:r>
          </a:p>
        </p:txBody>
      </p:sp>
      <p:sp>
        <p:nvSpPr>
          <p:cNvPr id="10" name="s5-card-3">
            <a:extLst xmlns:a="http://schemas.openxmlformats.org/drawingml/2006/main">
              <a:ext uri="{FF2B5EF4-FFF2-40B4-BE49-F238E27FC236}">
                <a16:creationId xmlns:a16="http://schemas.microsoft.com/office/drawing/2014/main" id="{F5EAAB01-904C-456F-A809-63D01E96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386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sp>
        <p:nvSpPr>
          <p:cNvPr id="11" name="s5-stat-3">
            <a:extLst xmlns:a="http://schemas.openxmlformats.org/drawingml/2006/main">
              <a:ext uri="{FF2B5EF4-FFF2-40B4-BE49-F238E27FC236}">
                <a16:creationId xmlns:a16="http://schemas.microsoft.com/office/drawing/2014/main" id="{E2FAE1AA-89B7-41FE-BB63-79DFFB44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4820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175/175</a:t>
            </a:r>
          </a:p>
        </p:txBody>
      </p:sp>
      <p:sp>
        <p:nvSpPr>
          <p:cNvPr id="12" name="s5-label-3">
            <a:extLst xmlns:a="http://schemas.openxmlformats.org/drawingml/2006/main">
              <a:ext uri="{FF2B5EF4-FFF2-40B4-BE49-F238E27FC236}">
                <a16:creationId xmlns:a16="http://schemas.microsoft.com/office/drawing/2014/main" id="{65CCE8D0-0B14-43AC-B80E-73AAF174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816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frame elaborati</a:t>
            </a:r>
          </a:p>
        </p:txBody>
      </p:sp>
      <p:sp>
        <p:nvSpPr>
          <p:cNvPr id="13" name="s5-note">
            <a:extLst xmlns:a="http://schemas.openxmlformats.org/drawingml/2006/main">
              <a:ext uri="{FF2B5EF4-FFF2-40B4-BE49-F238E27FC236}">
                <a16:creationId xmlns:a16="http://schemas.microsoft.com/office/drawing/2014/main" id="{EC9C2B2D-6BF4-4F52-9152-0079879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952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Demo live: 2–3 minuti · webcam solo come percorso sperimentale.</a:t>
            </a:r>
          </a:p>
        </p:txBody>
      </p:sp>
      <p:sp>
        <p:nvSpPr>
          <p:cNvPr id="14" name="footer-5">
            <a:extLst xmlns:a="http://schemas.openxmlformats.org/drawingml/2006/main">
              <a:ext uri="{FF2B5EF4-FFF2-40B4-BE49-F238E27FC236}">
                <a16:creationId xmlns:a16="http://schemas.microsoft.com/office/drawing/2014/main" id="{95112457-63A0-4BB2-8E87-4E08F111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83a0fbe1e4740"/>
          <a:srcRect xmlns:a="http://schemas.openxmlformats.org/drawingml/2006/main" l="134" t="0" r="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581150"/>
            <a:ext cx="8039100" cy="4057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81512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">
            <a:extLst xmlns:a="http://schemas.openxmlformats.org/drawingml/2006/main">
              <a:ext uri="{FF2B5EF4-FFF2-40B4-BE49-F238E27FC236}">
                <a16:creationId xmlns:a16="http://schemas.microsoft.com/office/drawing/2014/main" id="{E7AF4F2A-EE10-496F-B59D-F83FC27F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La validazione è forte perché dichiara anche i limiti.</a:t>
            </a:r>
          </a:p>
        </p:txBody>
      </p:sp>
      <p:sp>
        <p:nvSpPr>
          <p:cNvPr id="2" name="s6-lead">
            <a:extLst xmlns:a="http://schemas.openxmlformats.org/drawingml/2006/main">
              <a:ext uri="{FF2B5EF4-FFF2-40B4-BE49-F238E27FC236}">
                <a16:creationId xmlns:a16="http://schemas.microsoft.com/office/drawing/2014/main" id="{1A2D09BA-45E4-4CF5-BC9F-83C43713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Risultati riproducibili sul video ufficiale; nessuna pretesa di validità biomeccanica in acqua.</a:t>
            </a:r>
          </a:p>
        </p:txBody>
      </p:sp>
      <p:sp>
        <p:nvSpPr>
          <p:cNvPr id="3" name="s6-image-backing">
            <a:extLst xmlns:a="http://schemas.openxmlformats.org/drawingml/2006/main">
              <a:ext uri="{FF2B5EF4-FFF2-40B4-BE49-F238E27FC236}">
                <a16:creationId xmlns:a16="http://schemas.microsoft.com/office/drawing/2014/main" id="{896FB35F-3796-42D2-A726-93D963B2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6-card-1">
            <a:extLst xmlns:a="http://schemas.openxmlformats.org/drawingml/2006/main">
              <a:ext uri="{FF2B5EF4-FFF2-40B4-BE49-F238E27FC236}">
                <a16:creationId xmlns:a16="http://schemas.microsoft.com/office/drawing/2014/main" id="{B38E4366-2D68-4D7E-875C-2DCF07E3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562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" name="s6-stat1">
            <a:extLst xmlns:a="http://schemas.openxmlformats.org/drawingml/2006/main">
              <a:ext uri="{FF2B5EF4-FFF2-40B4-BE49-F238E27FC236}">
                <a16:creationId xmlns:a16="http://schemas.microsoft.com/office/drawing/2014/main" id="{8BAC7E86-C694-4CD0-B336-26DCD0FF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10 = 10</a:t>
            </a:r>
          </a:p>
        </p:txBody>
      </p:sp>
      <p:sp>
        <p:nvSpPr>
          <p:cNvPr id="6" name="s6-body1">
            <a:extLst xmlns:a="http://schemas.openxmlformats.org/drawingml/2006/main">
              <a:ext uri="{FF2B5EF4-FFF2-40B4-BE49-F238E27FC236}">
                <a16:creationId xmlns:a16="http://schemas.microsoft.com/office/drawing/2014/main" id="{E6657F03-9182-4E1F-954B-9289F4E2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manuale vs automatico · differenza 0</a:t>
            </a:r>
          </a:p>
        </p:txBody>
      </p:sp>
      <p:sp>
        <p:nvSpPr>
          <p:cNvPr id="7" name="s6-card-2">
            <a:extLst xmlns:a="http://schemas.openxmlformats.org/drawingml/2006/main">
              <a:ext uri="{FF2B5EF4-FFF2-40B4-BE49-F238E27FC236}">
                <a16:creationId xmlns:a16="http://schemas.microsoft.com/office/drawing/2014/main" id="{F3DB4C62-9A71-4296-8F53-B5DA354B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38700"/>
            <a:ext cx="3562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sp>
        <p:nvSpPr>
          <p:cNvPr id="8" name="s6-stat2">
            <a:extLst xmlns:a="http://schemas.openxmlformats.org/drawingml/2006/main">
              <a:ext uri="{FF2B5EF4-FFF2-40B4-BE49-F238E27FC236}">
                <a16:creationId xmlns:a16="http://schemas.microsoft.com/office/drawing/2014/main" id="{A1702474-DBDF-4B3A-8C24-3563F37C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482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0 crash</a:t>
            </a:r>
          </a:p>
        </p:txBody>
      </p:sp>
      <p:sp>
        <p:nvSpPr>
          <p:cNvPr id="9" name="s6-body2">
            <a:extLst xmlns:a="http://schemas.openxmlformats.org/drawingml/2006/main">
              <a:ext uri="{FF2B5EF4-FFF2-40B4-BE49-F238E27FC236}">
                <a16:creationId xmlns:a16="http://schemas.microsoft.com/office/drawing/2014/main" id="{F1AC8F06-3FCC-40E2-ABAA-5A74F348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5626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occlusione controllata di 100 frame</a:t>
            </a:r>
          </a:p>
        </p:txBody>
      </p:sp>
      <p:sp>
        <p:nvSpPr>
          <p:cNvPr id="10" name="s6-card-3">
            <a:extLst xmlns:a="http://schemas.openxmlformats.org/drawingml/2006/main">
              <a:ext uri="{FF2B5EF4-FFF2-40B4-BE49-F238E27FC236}">
                <a16:creationId xmlns:a16="http://schemas.microsoft.com/office/drawing/2014/main" id="{BDAA5EB4-4B14-43F9-956F-59F8C0D3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38700"/>
            <a:ext cx="3562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0">
            <a:solidFill>
              <a:srgbClr val="EAF4ED"/>
            </a:solidFill>
            <a:prstDash val="solid"/>
          </a:ln>
        </p:spPr>
      </p:sp>
      <p:sp>
        <p:nvSpPr>
          <p:cNvPr id="11" name="s6-stat3">
            <a:extLst xmlns:a="http://schemas.openxmlformats.org/drawingml/2006/main">
              <a:ext uri="{FF2B5EF4-FFF2-40B4-BE49-F238E27FC236}">
                <a16:creationId xmlns:a16="http://schemas.microsoft.com/office/drawing/2014/main" id="{B3CD65E2-6B61-45B8-B8E8-7CC9FAC6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482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t>2 run identiche</a:t>
            </a:r>
          </a:p>
        </p:txBody>
      </p:sp>
      <p:sp>
        <p:nvSpPr>
          <p:cNvPr id="12" name="s6-body3">
            <a:extLst xmlns:a="http://schemas.openxmlformats.org/drawingml/2006/main">
              <a:ext uri="{FF2B5EF4-FFF2-40B4-BE49-F238E27FC236}">
                <a16:creationId xmlns:a16="http://schemas.microsoft.com/office/drawing/2014/main" id="{5F004499-C94F-4754-8493-71486945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626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KPI e serie sullo stesso MP4</a:t>
            </a:r>
          </a:p>
        </p:txBody>
      </p:sp>
      <p:sp>
        <p:nvSpPr>
          <p:cNvPr id="13" name="s6-note">
            <a:extLst xmlns:a="http://schemas.openxmlformats.org/drawingml/2006/main">
              <a:ext uri="{FF2B5EF4-FFF2-40B4-BE49-F238E27FC236}">
                <a16:creationId xmlns:a16="http://schemas.microsoft.com/office/drawing/2014/main" id="{5FF699EA-E33E-4EFA-BFDC-03A62E1F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Privacy: nessun video esportato o versionato; cache upload locale e gitignored.</a:t>
            </a:r>
          </a:p>
        </p:txBody>
      </p:sp>
      <p:sp>
        <p:nvSpPr>
          <p:cNvPr id="14" name="footer-6">
            <a:extLst xmlns:a="http://schemas.openxmlformats.org/drawingml/2006/main">
              <a:ext uri="{FF2B5EF4-FFF2-40B4-BE49-F238E27FC236}">
                <a16:creationId xmlns:a16="http://schemas.microsoft.com/office/drawing/2014/main" id="{83604072-B2A2-4564-915D-D2EC14A2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9b719401f48e3"/>
          <a:stretch xmlns:a="http://schemas.openxmlformats.org/drawingml/2006/main"/>
        </p:blipFill>
        <p:spPr>
          <a:xfrm xmlns:a="http://schemas.openxmlformats.org/drawingml/2006/main">
            <a:off x="1191491" y="1752600"/>
            <a:ext cx="9809018" cy="2819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65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title">
            <a:extLst xmlns:a="http://schemas.openxmlformats.org/drawingml/2006/main">
              <a:ext uri="{FF2B5EF4-FFF2-40B4-BE49-F238E27FC236}">
                <a16:creationId xmlns:a16="http://schemas.microsoft.com/office/drawing/2014/main" id="{6771123E-8C97-4738-8EFC-F3691576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Un PoC credibile distingue prova e promessa.</a:t>
            </a:r>
          </a:p>
        </p:txBody>
      </p:sp>
      <p:sp>
        <p:nvSpPr>
          <p:cNvPr id="2" name="s7-lead">
            <a:extLst xmlns:a="http://schemas.openxmlformats.org/drawingml/2006/main">
              <a:ext uri="{FF2B5EF4-FFF2-40B4-BE49-F238E27FC236}">
                <a16:creationId xmlns:a16="http://schemas.microsoft.com/office/drawing/2014/main" id="{CD8EB923-74F3-4CB5-90E9-3EE0B82E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391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Questa trasparenza rende chiaro che cosa finanziare e quale evidenza produrre dopo.</a:t>
            </a:r>
          </a:p>
        </p:txBody>
      </p:sp>
      <p:sp>
        <p:nvSpPr>
          <p:cNvPr id="3" name="s7-proven">
            <a:extLst xmlns:a="http://schemas.openxmlformats.org/drawingml/2006/main">
              <a:ext uri="{FF2B5EF4-FFF2-40B4-BE49-F238E27FC236}">
                <a16:creationId xmlns:a16="http://schemas.microsoft.com/office/drawing/2014/main" id="{530C41C6-4A5D-4674-B5A4-2F90329B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3721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s7-proven-label">
            <a:extLst xmlns:a="http://schemas.openxmlformats.org/drawingml/2006/main">
              <a:ext uri="{FF2B5EF4-FFF2-40B4-BE49-F238E27FC236}">
                <a16:creationId xmlns:a16="http://schemas.microsoft.com/office/drawing/2014/main" id="{718AC915-3C80-4D0E-AE0A-758FBB77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PROVATO</a:t>
            </a:r>
          </a:p>
        </p:txBody>
      </p:sp>
      <p:sp>
        <p:nvSpPr>
          <p:cNvPr id="5" name="s7-proven-title">
            <a:extLst xmlns:a="http://schemas.openxmlformats.org/drawingml/2006/main">
              <a:ext uri="{FF2B5EF4-FFF2-40B4-BE49-F238E27FC236}">
                <a16:creationId xmlns:a16="http://schemas.microsoft.com/office/drawing/2014/main" id="{084E4345-1D6A-4626-B6C0-3570D760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4572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Pipeline software a secco</a:t>
            </a:r>
          </a:p>
        </p:txBody>
      </p:sp>
      <p:sp>
        <p:nvSpPr>
          <p:cNvPr id="6" name="s7-proven-body">
            <a:extLst xmlns:a="http://schemas.openxmlformats.org/drawingml/2006/main">
              <a:ext uri="{FF2B5EF4-FFF2-40B4-BE49-F238E27FC236}">
                <a16:creationId xmlns:a16="http://schemas.microsoft.com/office/drawing/2014/main" id="{22AAA31E-4901-4193-98B3-D0CFA2FB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572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• Elaborazione locale end-to-end
• 10 bracciate sul video ufficiale
• Risultati ripetibili sullo stesso MP4</a:t>
            </a:r>
          </a:p>
        </p:txBody>
      </p:sp>
      <p:sp>
        <p:nvSpPr>
          <p:cNvPr id="7" name="s7-next">
            <a:extLst xmlns:a="http://schemas.openxmlformats.org/drawingml/2006/main">
              <a:ext uri="{FF2B5EF4-FFF2-40B4-BE49-F238E27FC236}">
                <a16:creationId xmlns:a16="http://schemas.microsoft.com/office/drawing/2014/main" id="{BB003411-B6E4-45CD-AEEF-B1515005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53721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sp>
        <p:nvSpPr>
          <p:cNvPr id="8" name="s7-next-label">
            <a:extLst xmlns:a="http://schemas.openxmlformats.org/drawingml/2006/main">
              <a:ext uri="{FF2B5EF4-FFF2-40B4-BE49-F238E27FC236}">
                <a16:creationId xmlns:a16="http://schemas.microsoft.com/office/drawing/2014/main" id="{4A3EE707-E6A6-4CBC-96BB-3FECE58A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DA VALIDARE</a:t>
            </a:r>
          </a:p>
        </p:txBody>
      </p:sp>
      <p:sp>
        <p:nvSpPr>
          <p:cNvPr id="9" name="s7-next-title">
            <a:extLst xmlns:a="http://schemas.openxmlformats.org/drawingml/2006/main">
              <a:ext uri="{FF2B5EF4-FFF2-40B4-BE49-F238E27FC236}">
                <a16:creationId xmlns:a16="http://schemas.microsoft.com/office/drawing/2014/main" id="{6DB94573-B1CD-45B9-8C05-A1C55E46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572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Biomeccanica in acqua</a:t>
            </a:r>
          </a:p>
        </p:txBody>
      </p:sp>
      <p:sp>
        <p:nvSpPr>
          <p:cNvPr id="10" name="s7-next-body">
            <a:extLst xmlns:a="http://schemas.openxmlformats.org/drawingml/2006/main">
              <a:ext uri="{FF2B5EF4-FFF2-40B4-BE49-F238E27FC236}">
                <a16:creationId xmlns:a16="http://schemas.microsoft.com/office/drawing/2014/main" id="{CB215915-B236-4575-967F-018B9427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4572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• Calibrazione sopra/sott’acqua
• Occlusioni e condizioni reali
• Generalizzazione su atleti e camere</a:t>
            </a:r>
          </a:p>
        </p:txBody>
      </p:sp>
      <p:sp>
        <p:nvSpPr>
          <p:cNvPr id="11" name="s7-strip">
            <a:extLst xmlns:a="http://schemas.openxmlformats.org/drawingml/2006/main">
              <a:ext uri="{FF2B5EF4-FFF2-40B4-BE49-F238E27FC236}">
                <a16:creationId xmlns:a16="http://schemas.microsoft.com/office/drawing/2014/main" id="{FD8162B1-C63D-4201-A0D2-8AC3E3BD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2" name="s7-strip-text">
            <a:extLst xmlns:a="http://schemas.openxmlformats.org/drawingml/2006/main">
              <a:ext uri="{FF2B5EF4-FFF2-40B4-BE49-F238E27FC236}">
                <a16:creationId xmlns:a16="http://schemas.microsoft.com/office/drawing/2014/main" id="{B9D7C2DF-831E-4EAA-938A-CA296DC6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41 task tracciate   ·   23/23 test metriche   ·   registro incidenti   ·   specifica congelata</a:t>
            </a:r>
          </a:p>
        </p:txBody>
      </p:sp>
      <p:sp>
        <p:nvSpPr>
          <p:cNvPr id="13" name="footer-7">
            <a:extLst xmlns:a="http://schemas.openxmlformats.org/drawingml/2006/main">
              <a:ext uri="{FF2B5EF4-FFF2-40B4-BE49-F238E27FC236}">
                <a16:creationId xmlns:a16="http://schemas.microsoft.com/office/drawing/2014/main" id="{C9BF60F7-348D-4F82-885B-AC7BD261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51918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title">
            <a:extLst xmlns:a="http://schemas.openxmlformats.org/drawingml/2006/main">
              <a:ext uri="{FF2B5EF4-FFF2-40B4-BE49-F238E27FC236}">
                <a16:creationId xmlns:a16="http://schemas.microsoft.com/office/drawing/2014/main" id="{6F39CE52-EB80-4055-A050-EB56A3EB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L’architettura è pronta a crescere, non a promettere scorciatoie.</a:t>
            </a:r>
          </a:p>
        </p:txBody>
      </p:sp>
      <p:sp>
        <p:nvSpPr>
          <p:cNvPr id="2" name="s8-subtitle">
            <a:extLst xmlns:a="http://schemas.openxmlformats.org/drawingml/2006/main">
              <a:ext uri="{FF2B5EF4-FFF2-40B4-BE49-F238E27FC236}">
                <a16:creationId xmlns:a16="http://schemas.microsoft.com/office/drawing/2014/main" id="{D3A9EB8A-70F2-4BBD-B0E4-9866E3B9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Visione, metriche e interfaccia sono moduli disaccoppiati.</a:t>
            </a:r>
          </a:p>
        </p:txBody>
      </p:sp>
      <p:sp>
        <p:nvSpPr>
          <p:cNvPr id="3" name="s8-image-backing">
            <a:extLst xmlns:a="http://schemas.openxmlformats.org/drawingml/2006/main">
              <a:ext uri="{FF2B5EF4-FFF2-40B4-BE49-F238E27FC236}">
                <a16:creationId xmlns:a16="http://schemas.microsoft.com/office/drawing/2014/main" id="{2AE986D8-C005-48A0-AF97-1E22BF8A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8-chip1">
            <a:extLst xmlns:a="http://schemas.openxmlformats.org/drawingml/2006/main">
              <a:ext uri="{FF2B5EF4-FFF2-40B4-BE49-F238E27FC236}">
                <a16:creationId xmlns:a16="http://schemas.microsoft.com/office/drawing/2014/main" id="{94770357-EE09-4791-8E8B-E0539ACC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3562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" name="s8-chip1t">
            <a:extLst xmlns:a="http://schemas.openxmlformats.org/drawingml/2006/main">
              <a:ext uri="{FF2B5EF4-FFF2-40B4-BE49-F238E27FC236}">
                <a16:creationId xmlns:a16="http://schemas.microsoft.com/office/drawing/2014/main" id="{EF956712-5071-43A0-98DE-31E4450E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318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Visione sostituibile</a:t>
            </a:r>
          </a:p>
        </p:txBody>
      </p:sp>
      <p:sp>
        <p:nvSpPr>
          <p:cNvPr id="6" name="s8-chip2">
            <a:extLst xmlns:a="http://schemas.openxmlformats.org/drawingml/2006/main">
              <a:ext uri="{FF2B5EF4-FFF2-40B4-BE49-F238E27FC236}">
                <a16:creationId xmlns:a16="http://schemas.microsoft.com/office/drawing/2014/main" id="{B34AF2D3-3668-4CDC-8D41-FEF9A08D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314950"/>
            <a:ext cx="3562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0">
            <a:solidFill>
              <a:srgbClr val="EAF4ED"/>
            </a:solidFill>
            <a:prstDash val="solid"/>
          </a:ln>
        </p:spPr>
      </p:sp>
      <p:sp>
        <p:nvSpPr>
          <p:cNvPr id="7" name="s8-chip2t">
            <a:extLst xmlns:a="http://schemas.openxmlformats.org/drawingml/2006/main">
              <a:ext uri="{FF2B5EF4-FFF2-40B4-BE49-F238E27FC236}">
                <a16:creationId xmlns:a16="http://schemas.microsoft.com/office/drawing/2014/main" id="{0AC0E6B8-E27D-44F4-B8D9-6C9E7B47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495925"/>
            <a:ext cx="318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t>Metriche: 23/23 test</a:t>
            </a:r>
          </a:p>
        </p:txBody>
      </p:sp>
      <p:sp>
        <p:nvSpPr>
          <p:cNvPr id="8" name="s8-chip3">
            <a:extLst xmlns:a="http://schemas.openxmlformats.org/drawingml/2006/main">
              <a:ext uri="{FF2B5EF4-FFF2-40B4-BE49-F238E27FC236}">
                <a16:creationId xmlns:a16="http://schemas.microsoft.com/office/drawing/2014/main" id="{4D0FA79B-4096-4282-BF1C-75B1D4E5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14950"/>
            <a:ext cx="3562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F3E3"/>
          </a:solidFill>
          <a:ln xmlns:a="http://schemas.openxmlformats.org/drawingml/2006/main" w="0">
            <a:solidFill>
              <a:srgbClr val="FBF3E3"/>
            </a:solidFill>
            <a:prstDash val="solid"/>
          </a:ln>
        </p:spPr>
      </p:sp>
      <p:sp>
        <p:nvSpPr>
          <p:cNvPr id="9" name="s8-chip3t">
            <a:extLst xmlns:a="http://schemas.openxmlformats.org/drawingml/2006/main">
              <a:ext uri="{FF2B5EF4-FFF2-40B4-BE49-F238E27FC236}">
                <a16:creationId xmlns:a16="http://schemas.microsoft.com/office/drawing/2014/main" id="{5397DB65-EFC7-4BAE-91A4-BFCBCBFA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95925"/>
            <a:ext cx="318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9B6A12"/>
                </a:solidFill>
                <a:latin typeface="Arial"/>
                <a:ea typeface="Arial"/>
                <a:cs typeface="Arial"/>
              </a:defRPr>
            </a:pPr>
            <a:r>
              <a:t>Output aggregato</a:t>
            </a:r>
          </a:p>
        </p:txBody>
      </p:sp>
      <p:sp>
        <p:nvSpPr>
          <p:cNvPr id="10" name="s8-note">
            <a:extLst xmlns:a="http://schemas.openxmlformats.org/drawingml/2006/main">
              <a:ext uri="{FF2B5EF4-FFF2-40B4-BE49-F238E27FC236}">
                <a16:creationId xmlns:a16="http://schemas.microsoft.com/office/drawing/2014/main" id="{F21C1CE6-D7D2-4DD8-960C-9B0F2C2F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09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Il dominio acqua richiederà nuova calibrazione e validazione.</a:t>
            </a:r>
          </a:p>
        </p:txBody>
      </p:sp>
      <p:sp>
        <p:nvSpPr>
          <p:cNvPr id="11" name="footer-8">
            <a:extLst xmlns:a="http://schemas.openxmlformats.org/drawingml/2006/main">
              <a:ext uri="{FF2B5EF4-FFF2-40B4-BE49-F238E27FC236}">
                <a16:creationId xmlns:a16="http://schemas.microsoft.com/office/drawing/2014/main" id="{042D733A-6B78-4FAD-A12F-50F1D780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750e1e5294dc8"/>
          <a:stretch xmlns:a="http://schemas.openxmlformats.org/drawingml/2006/main"/>
        </p:blipFill>
        <p:spPr>
          <a:xfrm xmlns:a="http://schemas.openxmlformats.org/drawingml/2006/main">
            <a:off x="1454305" y="1619250"/>
            <a:ext cx="928339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548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title">
            <a:extLst xmlns:a="http://schemas.openxmlformats.org/drawingml/2006/main">
              <a:ext uri="{FF2B5EF4-FFF2-40B4-BE49-F238E27FC236}">
                <a16:creationId xmlns:a16="http://schemas.microsoft.com/office/drawing/2014/main" id="{6B36BB69-41E3-494E-9FEC-2F9BD1B8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I fondi comprano la prossima evidenza.</a:t>
            </a:r>
          </a:p>
        </p:txBody>
      </p:sp>
      <p:sp>
        <p:nvSpPr>
          <p:cNvPr id="2" name="s9-lead">
            <a:extLst xmlns:a="http://schemas.openxmlformats.org/drawingml/2006/main">
              <a:ext uri="{FF2B5EF4-FFF2-40B4-BE49-F238E27FC236}">
                <a16:creationId xmlns:a16="http://schemas.microsoft.com/office/drawing/2014/main" id="{9B59E352-0468-4D2E-97A1-0DA40F66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Hardware e dati estendono una base software già verificata.</a:t>
            </a:r>
          </a:p>
        </p:txBody>
      </p:sp>
      <p:cxnSp>
        <p:nvCxnSpPr>
          <p:cNvPr id="31" name="s9-timeline"/>
          <p:cNvCxnSpPr/>
          <p:nvPr/>
        </p:nvCxnSpPr>
        <p:spPr>
          <a:xfrm xmlns:a="http://schemas.openxmlformats.org/drawingml/2006/main">
            <a:off x="400050" y="54673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3441FABE-F4E3-4ABE-AC1C-8236FFA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s9-card-0">
            <a:extLst xmlns:a="http://schemas.openxmlformats.org/drawingml/2006/main">
              <a:ext uri="{FF2B5EF4-FFF2-40B4-BE49-F238E27FC236}">
                <a16:creationId xmlns:a16="http://schemas.microsoft.com/office/drawing/2014/main" id="{A8777802-E8BD-46AF-BBFC-47649EAA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9-label-0">
            <a:extLst xmlns:a="http://schemas.openxmlformats.org/drawingml/2006/main">
              <a:ext uri="{FF2B5EF4-FFF2-40B4-BE49-F238E27FC236}">
                <a16:creationId xmlns:a16="http://schemas.microsoft.com/office/drawing/2014/main" id="{F95BB057-2CEC-42C5-8229-A07596EE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FASE 1</a:t>
            </a:r>
          </a:p>
        </p:txBody>
      </p:sp>
      <p:sp>
        <p:nvSpPr>
          <p:cNvPr id="7" name="s9-title-0">
            <a:extLst xmlns:a="http://schemas.openxmlformats.org/drawingml/2006/main">
              <a:ext uri="{FF2B5EF4-FFF2-40B4-BE49-F238E27FC236}">
                <a16:creationId xmlns:a16="http://schemas.microsoft.com/office/drawing/2014/main" id="{36488494-6004-49F5-86E7-25B74A56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952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Acquisizione in vasca</a:t>
            </a:r>
          </a:p>
        </p:txBody>
      </p:sp>
      <p:sp>
        <p:nvSpPr>
          <p:cNvPr id="8" name="s9-body-0">
            <a:extLst xmlns:a="http://schemas.openxmlformats.org/drawingml/2006/main">
              <a:ext uri="{FF2B5EF4-FFF2-40B4-BE49-F238E27FC236}">
                <a16:creationId xmlns:a16="http://schemas.microsoft.com/office/drawing/2014/main" id="{5A6932FC-1C4F-4C92-8F99-6DF2AA43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9527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Sandbox proprietaria, protocollo di ripresa e prime camere sopra/sott’acqua.</a:t>
            </a:r>
          </a:p>
        </p:txBody>
      </p:sp>
      <p:sp>
        <p:nvSpPr>
          <p:cNvPr id="9" name="s9-node-0">
            <a:extLst xmlns:a="http://schemas.openxmlformats.org/drawingml/2006/main">
              <a:ext uri="{FF2B5EF4-FFF2-40B4-BE49-F238E27FC236}">
                <a16:creationId xmlns:a16="http://schemas.microsoft.com/office/drawing/2014/main" id="{D7EDDB71-13B8-4EA7-825F-7B94FE7C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0" name="s9-index-0">
            <a:extLst xmlns:a="http://schemas.openxmlformats.org/drawingml/2006/main">
              <a:ext uri="{FF2B5EF4-FFF2-40B4-BE49-F238E27FC236}">
                <a16:creationId xmlns:a16="http://schemas.microsoft.com/office/drawing/2014/main" id="{48663A21-253F-4727-9D23-2DF2E34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1" name="s9-card-1">
            <a:extLst xmlns:a="http://schemas.openxmlformats.org/drawingml/2006/main">
              <a:ext uri="{FF2B5EF4-FFF2-40B4-BE49-F238E27FC236}">
                <a16:creationId xmlns:a16="http://schemas.microsoft.com/office/drawing/2014/main" id="{D5E890A0-E861-45F7-B172-FD75C45F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3355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sp>
        <p:nvSpPr>
          <p:cNvPr id="12" name="s9-label-1">
            <a:extLst xmlns:a="http://schemas.openxmlformats.org/drawingml/2006/main">
              <a:ext uri="{FF2B5EF4-FFF2-40B4-BE49-F238E27FC236}">
                <a16:creationId xmlns:a16="http://schemas.microsoft.com/office/drawing/2014/main" id="{86CFC385-E6CA-4C20-AE3B-E635F9AB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574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FASE 2</a:t>
            </a:r>
          </a:p>
        </p:txBody>
      </p:sp>
      <p:sp>
        <p:nvSpPr>
          <p:cNvPr id="13" name="s9-title-1">
            <a:extLst xmlns:a="http://schemas.openxmlformats.org/drawingml/2006/main">
              <a:ext uri="{FF2B5EF4-FFF2-40B4-BE49-F238E27FC236}">
                <a16:creationId xmlns:a16="http://schemas.microsoft.com/office/drawing/2014/main" id="{87E419DC-50B8-4672-8ECB-BB1C22F3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09850"/>
            <a:ext cx="2952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Edge a bordo vasca</a:t>
            </a:r>
          </a:p>
        </p:txBody>
      </p:sp>
      <p:sp>
        <p:nvSpPr>
          <p:cNvPr id="14" name="s9-body-1">
            <a:extLst xmlns:a="http://schemas.openxmlformats.org/drawingml/2006/main">
              <a:ext uri="{FF2B5EF4-FFF2-40B4-BE49-F238E27FC236}">
                <a16:creationId xmlns:a16="http://schemas.microsoft.com/office/drawing/2014/main" id="{B25BABC0-26DC-4AEA-B38F-E7838483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81400"/>
            <a:ext cx="29527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Mini-PC locale, analisi in tempo reale e pipeline operativa sul campo.</a:t>
            </a:r>
          </a:p>
        </p:txBody>
      </p:sp>
      <p:sp>
        <p:nvSpPr>
          <p:cNvPr id="15" name="s9-node-1">
            <a:extLst xmlns:a="http://schemas.openxmlformats.org/drawingml/2006/main">
              <a:ext uri="{FF2B5EF4-FFF2-40B4-BE49-F238E27FC236}">
                <a16:creationId xmlns:a16="http://schemas.microsoft.com/office/drawing/2014/main" id="{04CF6AEC-4027-42A0-A477-7EB7F35C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391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6" name="s9-index-1">
            <a:extLst xmlns:a="http://schemas.openxmlformats.org/drawingml/2006/main">
              <a:ext uri="{FF2B5EF4-FFF2-40B4-BE49-F238E27FC236}">
                <a16:creationId xmlns:a16="http://schemas.microsoft.com/office/drawing/2014/main" id="{9070C032-2157-4CB4-B26A-7A1A484B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77215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7" name="s9-card-2">
            <a:extLst xmlns:a="http://schemas.openxmlformats.org/drawingml/2006/main">
              <a:ext uri="{FF2B5EF4-FFF2-40B4-BE49-F238E27FC236}">
                <a16:creationId xmlns:a16="http://schemas.microsoft.com/office/drawing/2014/main" id="{603E6D82-29F0-45A7-B9DC-257BB91E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0">
            <a:solidFill>
              <a:srgbClr val="EAF4ED"/>
            </a:solidFill>
            <a:prstDash val="solid"/>
          </a:ln>
        </p:spPr>
      </p:sp>
      <p:sp>
        <p:nvSpPr>
          <p:cNvPr id="18" name="s9-label-2">
            <a:extLst xmlns:a="http://schemas.openxmlformats.org/drawingml/2006/main">
              <a:ext uri="{FF2B5EF4-FFF2-40B4-BE49-F238E27FC236}">
                <a16:creationId xmlns:a16="http://schemas.microsoft.com/office/drawing/2014/main" id="{7E3F0B89-BDFB-4F9F-A086-295406D8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t>FASE 3</a:t>
            </a:r>
          </a:p>
        </p:txBody>
      </p:sp>
      <p:sp>
        <p:nvSpPr>
          <p:cNvPr id="19" name="s9-title-2">
            <a:extLst xmlns:a="http://schemas.openxmlformats.org/drawingml/2006/main">
              <a:ext uri="{FF2B5EF4-FFF2-40B4-BE49-F238E27FC236}">
                <a16:creationId xmlns:a16="http://schemas.microsoft.com/office/drawing/2014/main" id="{DF623E41-74E1-4484-9E78-7EDAF9F2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2952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Validazione scientifica</a:t>
            </a:r>
          </a:p>
        </p:txBody>
      </p:sp>
      <p:sp>
        <p:nvSpPr>
          <p:cNvPr id="20" name="s9-body-2">
            <a:extLst xmlns:a="http://schemas.openxmlformats.org/drawingml/2006/main">
              <a:ext uri="{FF2B5EF4-FFF2-40B4-BE49-F238E27FC236}">
                <a16:creationId xmlns:a16="http://schemas.microsoft.com/office/drawing/2014/main" id="{8FBCA43D-9D8B-4FE8-993D-8BB77D57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81400"/>
            <a:ext cx="29527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Sensor fusion, multi-atleta e protocollo con preparatori e atleti.</a:t>
            </a:r>
          </a:p>
        </p:txBody>
      </p:sp>
      <p:sp>
        <p:nvSpPr>
          <p:cNvPr id="21" name="s9-node-2">
            <a:extLst xmlns:a="http://schemas.openxmlformats.org/drawingml/2006/main">
              <a:ext uri="{FF2B5EF4-FFF2-40B4-BE49-F238E27FC236}">
                <a16:creationId xmlns:a16="http://schemas.microsoft.com/office/drawing/2014/main" id="{CE391DC6-D399-4CB7-8EB3-59AF039C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91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2" name="s9-index-2">
            <a:extLst xmlns:a="http://schemas.openxmlformats.org/drawingml/2006/main">
              <a:ext uri="{FF2B5EF4-FFF2-40B4-BE49-F238E27FC236}">
                <a16:creationId xmlns:a16="http://schemas.microsoft.com/office/drawing/2014/main" id="{A0888249-722C-4664-8094-2DB62DFB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77215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7649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eyebrow">
            <a:extLst xmlns:a="http://schemas.openxmlformats.org/drawingml/2006/main">
              <a:ext uri="{FF2B5EF4-FFF2-40B4-BE49-F238E27FC236}">
                <a16:creationId xmlns:a16="http://schemas.microsoft.com/office/drawing/2014/main" id="{4DE2A8BD-4A75-41DF-B296-E463BD1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LA RICHIESTA</a:t>
            </a:r>
          </a:p>
        </p:txBody>
      </p:sp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AC96FE47-1F5A-43FD-B4A0-4BFC6246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247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Finanziamo la fase
hardware e i dati.</a:t>
            </a:r>
          </a:p>
        </p:txBody>
      </p:sp>
      <p:sp>
        <p:nvSpPr>
          <p:cNvPr id="3" name="s10-subtitle">
            <a:extLst xmlns:a="http://schemas.openxmlformats.org/drawingml/2006/main">
              <a:ext uri="{FF2B5EF4-FFF2-40B4-BE49-F238E27FC236}">
                <a16:creationId xmlns:a16="http://schemas.microsoft.com/office/drawing/2014/main" id="{53B3D62F-AFF3-439B-91EE-FFECBEC9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7143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Il rischio software iniziale è stato ridotto e misurato. Ora serve validare il sistema in acqua.</a:t>
            </a:r>
          </a:p>
        </p:txBody>
      </p:sp>
      <p:sp>
        <p:nvSpPr>
          <p:cNvPr id="4" name="s10-ask-panel">
            <a:extLst xmlns:a="http://schemas.openxmlformats.org/drawingml/2006/main">
              <a:ext uri="{FF2B5EF4-FFF2-40B4-BE49-F238E27FC236}">
                <a16:creationId xmlns:a16="http://schemas.microsoft.com/office/drawing/2014/main" id="{84F0D1D5-F783-41B9-867D-815B733E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104900"/>
            <a:ext cx="3009900" cy="41148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s10-panel-label">
            <a:extLst xmlns:a="http://schemas.openxmlformats.org/drawingml/2006/main">
              <a:ext uri="{FF2B5EF4-FFF2-40B4-BE49-F238E27FC236}">
                <a16:creationId xmlns:a16="http://schemas.microsoft.com/office/drawing/2014/main" id="{43D96915-65CE-40EB-8AC2-E3E18E0D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668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PROSSIMO PASSO</a:t>
            </a:r>
          </a:p>
        </p:txBody>
      </p:sp>
      <p:sp>
        <p:nvSpPr>
          <p:cNvPr id="6" name="s10-item1">
            <a:extLst xmlns:a="http://schemas.openxmlformats.org/drawingml/2006/main">
              <a:ext uri="{FF2B5EF4-FFF2-40B4-BE49-F238E27FC236}">
                <a16:creationId xmlns:a16="http://schemas.microsoft.com/office/drawing/2014/main" id="{DB3159E0-50EB-4D1F-8AF6-877BB38C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52650"/>
            <a:ext cx="2381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Telecamere sopra e sott’acqua</a:t>
            </a:r>
          </a:p>
        </p:txBody>
      </p:sp>
      <p:cxnSp>
        <p:nvCxnSpPr>
          <p:cNvPr id="38" name="s10-pr1"/>
          <p:cNvCxnSpPr/>
          <p:nvPr/>
        </p:nvCxnSpPr>
        <p:spPr>
          <a:xfrm xmlns:a="http://schemas.openxmlformats.org/drawingml/2006/main">
            <a:off x="8610600" y="295275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10-item2">
            <a:extLst xmlns:a="http://schemas.openxmlformats.org/drawingml/2006/main">
              <a:ext uri="{FF2B5EF4-FFF2-40B4-BE49-F238E27FC236}">
                <a16:creationId xmlns:a16="http://schemas.microsoft.com/office/drawing/2014/main" id="{AE8AEC1D-284E-4E00-9B74-DDD6E45B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2381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Mini-PC edge e sensor fusion</a:t>
            </a:r>
          </a:p>
        </p:txBody>
      </p:sp>
      <p:cxnSp>
        <p:nvCxnSpPr>
          <p:cNvPr id="40" name="s10-pr2"/>
          <p:cNvCxnSpPr/>
          <p:nvPr/>
        </p:nvCxnSpPr>
        <p:spPr>
          <a:xfrm xmlns:a="http://schemas.openxmlformats.org/drawingml/2006/main">
            <a:off x="8610600" y="401955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s10-item3">
            <a:extLst xmlns:a="http://schemas.openxmlformats.org/drawingml/2006/main">
              <a:ext uri="{FF2B5EF4-FFF2-40B4-BE49-F238E27FC236}">
                <a16:creationId xmlns:a16="http://schemas.microsoft.com/office/drawing/2014/main" id="{389C106E-F1B3-4F27-85A2-955EB07E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86250"/>
            <a:ext cx="2381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Protocollo e riprese in vasca</a:t>
            </a:r>
          </a:p>
        </p:txBody>
      </p:sp>
      <p:sp>
        <p:nvSpPr>
          <p:cNvPr id="11" name="s10-repo">
            <a:extLst xmlns:a="http://schemas.openxmlformats.org/drawingml/2006/main">
              <a:ext uri="{FF2B5EF4-FFF2-40B4-BE49-F238E27FC236}">
                <a16:creationId xmlns:a16="http://schemas.microsoft.com/office/drawing/2014/main" id="{43EBAE03-513B-4336-AA88-8D214400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733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github.com/Maxdavi789/Acquatic-intelligence-system</a:t>
            </a:r>
          </a:p>
        </p:txBody>
      </p:sp>
      <p:sp>
        <p:nvSpPr>
          <p:cNvPr id="12" name="s10-disclaimer">
            <a:extLst xmlns:a="http://schemas.openxmlformats.org/drawingml/2006/main">
              <a:ext uri="{FF2B5EF4-FFF2-40B4-BE49-F238E27FC236}">
                <a16:creationId xmlns:a16="http://schemas.microsoft.com/office/drawing/2014/main" id="{942F19D6-218F-4F29-9E9C-8905A07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990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Non è un dispositivo medico e non fornisce consigli clinici o di prevenzione degli infortuni.</a:t>
            </a:r>
          </a:p>
        </p:txBody>
      </p:sp>
      <p:sp>
        <p:nvSpPr>
          <p:cNvPr id="13" name="footer-10">
            <a:extLst xmlns:a="http://schemas.openxmlformats.org/drawingml/2006/main">
              <a:ext uri="{FF2B5EF4-FFF2-40B4-BE49-F238E27FC236}">
                <a16:creationId xmlns:a16="http://schemas.microsoft.com/office/drawing/2014/main" id="{5A1117F7-311F-4EFA-95B0-72C1A656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19004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eyebrow">
            <a:extLst xmlns:a="http://schemas.openxmlformats.org/drawingml/2006/main">
              <a:ext uri="{FF2B5EF4-FFF2-40B4-BE49-F238E27FC236}">
                <a16:creationId xmlns:a16="http://schemas.microsoft.com/office/drawing/2014/main" id="{4DE2A8BD-4A75-41DF-B296-E463BD1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SWIMMING MOTION ANALYZER</a:t>
            </a:r>
          </a:p>
        </p:txBody>
      </p:sp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AC96FE47-1F5A-43FD-B4A0-4BFC6246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247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Grazie.</a:t>
            </a:r>
          </a:p>
        </p:txBody>
      </p:sp>
      <p:sp>
        <p:nvSpPr>
          <p:cNvPr id="3" name="s10-subtitle">
            <a:extLst xmlns:a="http://schemas.openxmlformats.org/drawingml/2006/main">
              <a:ext uri="{FF2B5EF4-FFF2-40B4-BE49-F238E27FC236}">
                <a16:creationId xmlns:a16="http://schemas.microsoft.com/office/drawing/2014/main" id="{53B3D62F-AFF3-439B-91EE-FFECBEC9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7143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Domande, osservazioni o idee per la fase in acqua?</a:t>
            </a:r>
          </a:p>
        </p:txBody>
      </p:sp>
      <p:sp>
        <p:nvSpPr>
          <p:cNvPr id="11" name="s10-repo">
            <a:extLst xmlns:a="http://schemas.openxmlformats.org/drawingml/2006/main">
              <a:ext uri="{FF2B5EF4-FFF2-40B4-BE49-F238E27FC236}">
                <a16:creationId xmlns:a16="http://schemas.microsoft.com/office/drawing/2014/main" id="{43EBAE03-513B-4336-AA88-8D214400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733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github.com/Maxdavi789/Acquatic-intelligence-system</a:t>
            </a:r>
          </a:p>
        </p:txBody>
      </p:sp>
      <p:sp>
        <p:nvSpPr>
          <p:cNvPr id="12" name="s10-disclaimer">
            <a:extLst xmlns:a="http://schemas.openxmlformats.org/drawingml/2006/main">
              <a:ext uri="{FF2B5EF4-FFF2-40B4-BE49-F238E27FC236}">
                <a16:creationId xmlns:a16="http://schemas.microsoft.com/office/drawing/2014/main" id="{942F19D6-218F-4F29-9E9C-8905A07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990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Massimo Davide Fedrigo · ITS ICT Academy Roma</a:t>
            </a:r>
          </a:p>
        </p:txBody>
      </p:sp>
      <p:sp>
        <p:nvSpPr>
          <p:cNvPr id="13" name="footer-10">
            <a:extLst xmlns:a="http://schemas.openxmlformats.org/drawingml/2006/main">
              <a:ext uri="{FF2B5EF4-FFF2-40B4-BE49-F238E27FC236}">
                <a16:creationId xmlns:a16="http://schemas.microsoft.com/office/drawing/2014/main" id="{5A1117F7-311F-4EFA-95B0-72C1A656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71900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2026-07-14T10:50:06.0060000Z</dcterms:created>
  <dcterms:modified xsi:type="dcterms:W3CDTF">2026-07-14T10:50:06.0060000Z</dcterms:modified>
</coreProperties>
</file>